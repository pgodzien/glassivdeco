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82598AC-7F41-8F52-BD1F-3CA4B1E8B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BF58A3D-F3D1-A595-B8B9-F8787EAA2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370DF46-C7E2-8279-75C7-9F05196AA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A627-526E-9445-9730-E49936835440}" type="datetimeFigureOut">
              <a:rPr lang="pl-PL" smtClean="0"/>
              <a:t>22.07.2026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E89B7D3-EE34-4511-EBF3-1DC0A1AF9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28E1C79-76B3-EE87-225F-07E3CAF00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6016-DE6D-F440-BB2F-096BD61C6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81968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AAEE06-5E7A-0F8A-A44C-9CE045AE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E2AF162-1513-AA8D-9438-8CB076237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105B45F-6AED-95A2-9C06-2B3126B9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A627-526E-9445-9730-E49936835440}" type="datetimeFigureOut">
              <a:rPr lang="pl-PL" smtClean="0"/>
              <a:t>22.07.2026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E6218EB-6CF8-BF20-F3D8-00EF2A572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ED71AAC-0EE7-A10B-7B6B-7A586AD63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6016-DE6D-F440-BB2F-096BD61C6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35568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3CD3856-9992-E20D-D5CC-3E7FF3BF9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9D3516F-A1B1-4DB9-27C9-1188CB51E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A24B6E-FE6F-75FC-E912-FA4BDE349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A627-526E-9445-9730-E49936835440}" type="datetimeFigureOut">
              <a:rPr lang="pl-PL" smtClean="0"/>
              <a:t>22.07.2026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DA0803E-2BF0-8FA2-70FF-6F2EB49D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E8D4B32-21FA-F4FE-257C-92171A417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6016-DE6D-F440-BB2F-096BD61C6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26625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627217-EE09-3C31-EAEC-BCFB332C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B42529C-03B2-2902-12BF-7C90A7A16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074D512-4130-21D7-80A0-33DC751A9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4BBD178-8BC3-7D85-1AE0-CA362B5BA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A627-526E-9445-9730-E49936835440}" type="datetimeFigureOut">
              <a:rPr lang="pl-PL" smtClean="0"/>
              <a:t>22.07.2026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365D978-341F-D672-3E1A-0B96B536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DBB88FC-3AC6-5C2B-C33D-E2C51FE0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6016-DE6D-F440-BB2F-096BD61C6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9394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4AEB6C-0C3C-E967-E6C3-9825C37EE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B53280A-7FCF-414B-DDA2-433E32BED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FE44E8B-7C56-E8D6-0300-E51E90A04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FEF91CC-2EC4-DD36-3D1C-16885DDD0C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F6D6E17-1756-0EDD-3D14-482B5C800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504A60C2-32D2-BA55-78E6-83400BB56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A627-526E-9445-9730-E49936835440}" type="datetimeFigureOut">
              <a:rPr lang="pl-PL" smtClean="0"/>
              <a:t>22.07.2026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1F70171-E7C7-6010-10BC-1237136F8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F43F99F-90E1-1D19-6DA8-51DD3009C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6016-DE6D-F440-BB2F-096BD61C6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277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DE4567-17B4-5793-8955-AAC3EF048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2D76DFC8-8F0C-D629-405B-3F9F9195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A627-526E-9445-9730-E49936835440}" type="datetimeFigureOut">
              <a:rPr lang="pl-PL" smtClean="0"/>
              <a:t>22.07.2026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A16084E-952E-FFD0-67DA-FE3844827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1A6BD658-0E77-AD01-A578-A5456E56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6016-DE6D-F440-BB2F-096BD61C6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30366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63F2A099-B14B-DC38-33DB-48F1CC691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A627-526E-9445-9730-E49936835440}" type="datetimeFigureOut">
              <a:rPr lang="pl-PL" smtClean="0"/>
              <a:t>22.07.2026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7E30D3F8-4E66-BD7C-4011-481CA05B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882D841-263B-3B2A-DFD9-BF06C6AF5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6016-DE6D-F440-BB2F-096BD61C6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8926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7340EC-B36B-38FC-E3B9-68FB140D1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154A72-A6E9-7DAA-CB6F-6F370A3A5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18C8DF2-78F0-8ACC-A857-073144B78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C303675-21D8-F7A0-F580-A3EDDCE30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A627-526E-9445-9730-E49936835440}" type="datetimeFigureOut">
              <a:rPr lang="pl-PL" smtClean="0"/>
              <a:t>22.07.2026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C62586F-6D6F-FCCE-1133-143869D43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65B84CB-07A8-DE4B-26A3-53C6AFA8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6016-DE6D-F440-BB2F-096BD61C6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70203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0924A4-93DF-75BE-9C83-6745DE9F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F4C5621E-6F25-CA52-7D77-E526A55DE7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F16634A-DF74-9CB5-668D-0B79E7E45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B88E211-9214-5F01-E45F-6AC73FF45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A627-526E-9445-9730-E49936835440}" type="datetimeFigureOut">
              <a:rPr lang="pl-PL" smtClean="0"/>
              <a:t>22.07.2026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782CA42-FB36-D885-F66C-8F8DB5FE2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2507476-4961-099C-7856-C6FD360B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6016-DE6D-F440-BB2F-096BD61C6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4947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3D2480-F246-4D81-C520-27159438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D3D4DDB-C7A4-0F61-6EA9-687420F90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C35A15-A7A9-A870-B711-6F1C2D890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A627-526E-9445-9730-E49936835440}" type="datetimeFigureOut">
              <a:rPr lang="pl-PL" smtClean="0"/>
              <a:t>22.07.2026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25B58D7-72FE-8632-3924-A969ABD9C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A75FA99-DCE3-27E8-BDCE-A8693EADD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6016-DE6D-F440-BB2F-096BD61C6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0124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67DAF265-14D9-78EA-6AC5-A2042D0790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EEA0081-FDFB-F4FC-6229-BCE557B30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03AE193-FCAA-0B64-C3BF-3ED66392E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A627-526E-9445-9730-E49936835440}" type="datetimeFigureOut">
              <a:rPr lang="pl-PL" smtClean="0"/>
              <a:t>22.07.2026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0CCE208-FE2D-EC8D-1C7C-F8B976551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429FF56-E68F-C4B1-878B-6EB7AAF24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6016-DE6D-F440-BB2F-096BD61C6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52503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101A"/>
            </a:gs>
            <a:gs pos="100000">
              <a:srgbClr val="070709"/>
            </a:gs>
          </a:gsLst>
          <a:lin ang="4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deco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01" name="accentbar"/>
            <p:cNvSpPr/>
            <p:nvPr/>
          </p:nvSpPr>
          <p:spPr>
            <a:xfrm>
              <a:off x="0" y="0"/>
              <a:ext cx="45720" cy="6858000"/>
            </a:xfrm>
            <a:prstGeom prst="rect">
              <a:avLst/>
            </a:prstGeom>
            <a:solidFill>
              <a:srgbClr val="1313B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glow"/>
            <p:cNvSpPr/>
            <p:nvPr/>
          </p:nvSpPr>
          <p:spPr>
            <a:xfrm>
              <a:off x="6858000" y="4300000"/>
              <a:ext cx="3400000" cy="3400000"/>
            </a:xfrm>
            <a:prstGeom prst="ellipse">
              <a:avLst/>
            </a:prstGeom>
            <a:gradFill>
              <a:gsLst>
                <a:gs pos="0">
                  <a:srgbClr val="1313BA">
                    <a:alpha val="26000"/>
                  </a:srgbClr>
                </a:gs>
                <a:gs pos="100000">
                  <a:srgbClr val="1313BA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15AA88FB-A53B-53FC-36FC-B80F953C4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F7B4E36-E856-A13A-5780-52D0A8C30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0CEA48C-0E49-847E-86A6-AFC5EE21CD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5A627-526E-9445-9730-E49936835440}" type="datetimeFigureOut">
              <a:rPr lang="pl-PL" smtClean="0"/>
              <a:t>22.07.2026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CBA4606-C035-F39C-9DCF-CF70F8707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61B2B31-5BD6-7819-1F7D-41A42EB0F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26016-DE6D-F440-BB2F-096BD61C6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9114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9C9D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CE61ED-9B17-86F1-FBFC-F363D3D24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2600"/>
            <a:ext cx="9144000" cy="2540000"/>
          </a:xfrm>
        </p:spPr>
        <p:txBody>
          <a:bodyPr/>
          <a:lstStyle/>
          <a:p>
            <a:pPr algn="ctr">
              <a:buNone/>
            </a:pPr>
            <a:r>
              <a:rPr lang="pl-PL" sz="1400" b="0" spc="500" dirty="0">
                <a:solidFill>
                  <a:srgbClr val="5B58E8"/>
                </a:solidFill>
              </a:rPr>
              <a:t>TECHNOLOGIA SZKŁA</a:t>
            </a:r>
          </a:p>
          <a:p>
            <a:pPr algn="ctr">
              <a:lnSpc>
                <a:spcPct val="102000"/>
              </a:lnSpc>
              <a:spcBef>
                <a:spcPts val="1000"/>
              </a:spcBef>
              <a:buNone/>
            </a:pPr>
            <a:r>
              <a:rPr lang="pl-PL" sz="2800" b="1" dirty="0">
                <a:solidFill>
                  <a:srgbClr val="FFFFFF"/>
                </a:solidFill>
              </a:rPr>
              <a:t>ZDOBNICTWO SZKLANYCH</a:t>
            </a:r>
          </a:p>
          <a:p>
            <a:pPr algn="ctr">
              <a:lnSpc>
                <a:spcPct val="102000"/>
              </a:lnSpc>
              <a:buNone/>
            </a:pPr>
            <a:r>
              <a:rPr lang="pl-PL" sz="2800" b="1" dirty="0">
                <a:solidFill>
                  <a:srgbClr val="FFFFFF"/>
                </a:solidFill>
              </a:rPr>
              <a:t>OPAKOWAŃ NA POZIOMIE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735F696-567C-9D77-D170-9CFD8EF32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24400"/>
            <a:ext cx="9144000" cy="762000"/>
          </a:xfrm>
        </p:spPr>
        <p:txBody>
          <a:bodyPr/>
          <a:lstStyle/>
          <a:p>
            <a:pPr algn="ctr">
              <a:buNone/>
            </a:pPr>
            <a:r>
              <a:rPr lang="pl-PL" sz="1600" spc="200" dirty="0">
                <a:solidFill>
                  <a:srgbClr val="C9C9D2"/>
                </a:solidFill>
              </a:rPr>
              <a:t>Glassiv Deco    ·    Prezentacja handlowa    ·    2026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F688A044-785B-254E-9D46-7A9335B473F5}"/>
              </a:ext>
            </a:extLst>
          </p:cNvPr>
          <p:cNvSpPr/>
          <p:nvPr/>
        </p:nvSpPr>
        <p:spPr>
          <a:xfrm>
            <a:off x="5524500" y="4470400"/>
            <a:ext cx="1143000" cy="38100"/>
          </a:xfrm>
          <a:prstGeom prst="rect">
            <a:avLst/>
          </a:prstGeom>
          <a:solidFill>
            <a:srgbClr val="1313B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C713007-A419-154E-97C1-1CB55EC480D9}"/>
              </a:ext>
            </a:extLst>
          </p:cNvPr>
          <p:cNvSpPr txBox="1"/>
          <p:nvPr/>
        </p:nvSpPr>
        <p:spPr>
          <a:xfrm>
            <a:off x="9144000" y="63500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200">
                <a:solidFill>
                  <a:srgbClr val="6E6BF0"/>
                </a:solidFill>
                <a:latin typeface="Figtree"/>
              </a:rPr>
              <a:t>01 — 05</a:t>
            </a:r>
          </a:p>
        </p:txBody>
      </p:sp>
    </p:spTree>
    <p:extLst>
      <p:ext uri="{BB962C8B-B14F-4D97-AF65-F5344CB8AC3E}">
        <p14:creationId xmlns:p14="http://schemas.microsoft.com/office/powerpoint/2010/main" val="1821277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343073E1-9011-D94C-BC5D-4C47F6567CAC}"/>
              </a:ext>
            </a:extLst>
          </p:cNvPr>
          <p:cNvSpPr txBox="1"/>
          <p:nvPr/>
        </p:nvSpPr>
        <p:spPr>
          <a:xfrm>
            <a:off x="812800" y="9144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400" b="1">
                <a:solidFill>
                  <a:srgbClr val="5B58E8"/>
                </a:solidFill>
                <a:latin typeface="Figtree"/>
              </a:rPr>
              <a:t>O FIRMIE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C1F96E0-9067-B24D-B07A-12CD455E4277}"/>
              </a:ext>
            </a:extLst>
          </p:cNvPr>
          <p:cNvSpPr txBox="1"/>
          <p:nvPr/>
        </p:nvSpPr>
        <p:spPr>
          <a:xfrm>
            <a:off x="812800" y="1320800"/>
            <a:ext cx="5334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2600" b="1">
                <a:solidFill>
                  <a:srgbClr val="FFFFFF"/>
                </a:solidFill>
                <a:latin typeface="Figtree"/>
              </a:rPr>
              <a:t>Precyzja i jakość w każdym detalu zdobienia szkła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910060F-058D-5842-8EC7-C7F5F517C72F}"/>
              </a:ext>
            </a:extLst>
          </p:cNvPr>
          <p:cNvSpPr txBox="1"/>
          <p:nvPr/>
        </p:nvSpPr>
        <p:spPr>
          <a:xfrm>
            <a:off x="812800" y="3810000"/>
            <a:ext cx="5334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500">
                <a:solidFill>
                  <a:srgbClr val="C9C9D2"/>
                </a:solidFill>
                <a:latin typeface="Figtree"/>
              </a:rPr>
              <a:t>Dostarczamy najwyższej jakości zdobienia szklanych opakowań — od pierwszego szkicu po gotową partię produkcyjną. Łączymy rzemieślniczą precyzję z nowoczesnymi technologiami druku, barwienia i powłok.</a:t>
            </a:r>
          </a:p>
        </p:txBody>
      </p:sp>
      <p:sp>
        <p:nvSpPr>
          <p:cNvPr id="6" name="imgpanel">
            <a:extLst>
              <a:ext uri="{FF2B5EF4-FFF2-40B4-BE49-F238E27FC236}">
                <a16:creationId xmlns:a16="http://schemas.microsoft.com/office/drawing/2014/main" id="{56B91968-8A7F-A341-A6B0-2D09D3694B56}"/>
              </a:ext>
            </a:extLst>
          </p:cNvPr>
          <p:cNvSpPr/>
          <p:nvPr/>
        </p:nvSpPr>
        <p:spPr>
          <a:xfrm>
            <a:off x="7061200" y="889000"/>
            <a:ext cx="4318000" cy="5080000"/>
          </a:xfrm>
          <a:prstGeom prst="rect">
            <a:avLst/>
          </a:prstGeom>
          <a:solidFill>
            <a:srgbClr val="14141E"/>
          </a:solidFill>
          <a:ln w="12700" cap="flat" cmpd="sng" algn="ctr">
            <a:solidFill>
              <a:srgbClr val="2626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77FC9846-7019-CE0A-2FEA-33A2CBA14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400" y="965200"/>
            <a:ext cx="4165600" cy="480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666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353720DB-B873-FE49-A68B-AE66A5673687}"/>
              </a:ext>
            </a:extLst>
          </p:cNvPr>
          <p:cNvSpPr txBox="1"/>
          <p:nvPr/>
        </p:nvSpPr>
        <p:spPr>
          <a:xfrm>
            <a:off x="9652000" y="457200"/>
            <a:ext cx="2032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5600" b="1">
                <a:solidFill>
                  <a:srgbClr val="1E1E38"/>
                </a:solidFill>
                <a:latin typeface="Syncopate"/>
              </a:rPr>
              <a:t>03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7C79D10-3F94-2F4B-AC81-654E9DF37903}"/>
              </a:ext>
            </a:extLst>
          </p:cNvPr>
          <p:cNvSpPr txBox="1"/>
          <p:nvPr/>
        </p:nvSpPr>
        <p:spPr>
          <a:xfrm>
            <a:off x="812800" y="914400"/>
            <a:ext cx="635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400" b="1">
                <a:solidFill>
                  <a:srgbClr val="5B58E8"/>
                </a:solidFill>
                <a:latin typeface="Figtree"/>
              </a:rPr>
              <a:t>MOCE PRZEROBOWE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4F08D8C-28CB-7543-865B-3AE85A5CA23F}"/>
              </a:ext>
            </a:extLst>
          </p:cNvPr>
          <p:cNvSpPr txBox="1"/>
          <p:nvPr/>
        </p:nvSpPr>
        <p:spPr>
          <a:xfrm>
            <a:off x="812800" y="1320800"/>
            <a:ext cx="8636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3000" b="1">
                <a:solidFill>
                  <a:srgbClr val="FFFFFF"/>
                </a:solidFill>
                <a:latin typeface="Figtree"/>
              </a:rPr>
              <a:t>Skala, która robi wrażenie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D8ACEA7A-4AAD-7945-9450-78F1E29F6ADB}"/>
              </a:ext>
            </a:extLst>
          </p:cNvPr>
          <p:cNvSpPr/>
          <p:nvPr/>
        </p:nvSpPr>
        <p:spPr>
          <a:xfrm>
            <a:off x="812800" y="2489200"/>
            <a:ext cx="3276600" cy="3556000"/>
          </a:xfrm>
          <a:prstGeom prst="rect">
            <a:avLst/>
          </a:prstGeom>
          <a:solidFill>
            <a:srgbClr val="14141E"/>
          </a:solidFill>
          <a:ln w="12700" cap="flat" cmpd="sng" algn="ctr">
            <a:solidFill>
              <a:srgbClr val="2626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D0806F13-46FD-DF44-A8FE-12A2CE6C2656}"/>
              </a:ext>
            </a:extLst>
          </p:cNvPr>
          <p:cNvSpPr/>
          <p:nvPr/>
        </p:nvSpPr>
        <p:spPr>
          <a:xfrm>
            <a:off x="1092200" y="2819400"/>
            <a:ext cx="533400" cy="50800"/>
          </a:xfrm>
          <a:prstGeom prst="rect">
            <a:avLst/>
          </a:prstGeom>
          <a:solidFill>
            <a:srgbClr val="1313B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E69D25D-EC59-FF4E-9A9D-1BA551F25BD1}"/>
              </a:ext>
            </a:extLst>
          </p:cNvPr>
          <p:cNvSpPr txBox="1"/>
          <p:nvPr/>
        </p:nvSpPr>
        <p:spPr>
          <a:xfrm>
            <a:off x="1016000" y="3124200"/>
            <a:ext cx="2870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3400" b="1">
                <a:solidFill>
                  <a:srgbClr val="FFFFFF"/>
                </a:solidFill>
                <a:latin typeface="Syncopate"/>
              </a:rPr>
              <a:t>80 000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B0D85BB-89A6-0E4A-9C3E-B00CD1410FA8}"/>
              </a:ext>
            </a:extLst>
          </p:cNvPr>
          <p:cNvSpPr txBox="1"/>
          <p:nvPr/>
        </p:nvSpPr>
        <p:spPr>
          <a:xfrm>
            <a:off x="1092200" y="4191000"/>
            <a:ext cx="27178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400">
                <a:solidFill>
                  <a:srgbClr val="C9C9D2"/>
                </a:solidFill>
                <a:latin typeface="Figtree"/>
              </a:rPr>
              <a:t>sztuk na dobę — nasze moce przerobowe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AAAE125D-4D74-E84F-9235-39647A037DDA}"/>
              </a:ext>
            </a:extLst>
          </p:cNvPr>
          <p:cNvSpPr/>
          <p:nvPr/>
        </p:nvSpPr>
        <p:spPr>
          <a:xfrm>
            <a:off x="4445000" y="2489200"/>
            <a:ext cx="3276600" cy="3556000"/>
          </a:xfrm>
          <a:prstGeom prst="rect">
            <a:avLst/>
          </a:prstGeom>
          <a:solidFill>
            <a:srgbClr val="14141E"/>
          </a:solidFill>
          <a:ln w="12700" cap="flat" cmpd="sng" algn="ctr">
            <a:solidFill>
              <a:srgbClr val="2626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26C09184-D334-7647-96E8-61B5065F6AA3}"/>
              </a:ext>
            </a:extLst>
          </p:cNvPr>
          <p:cNvSpPr/>
          <p:nvPr/>
        </p:nvSpPr>
        <p:spPr>
          <a:xfrm>
            <a:off x="4724400" y="2819400"/>
            <a:ext cx="533400" cy="50800"/>
          </a:xfrm>
          <a:prstGeom prst="rect">
            <a:avLst/>
          </a:prstGeom>
          <a:solidFill>
            <a:srgbClr val="1313B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F7EB327E-2FAD-8F44-9A6D-C563C8E9491A}"/>
              </a:ext>
            </a:extLst>
          </p:cNvPr>
          <p:cNvSpPr txBox="1"/>
          <p:nvPr/>
        </p:nvSpPr>
        <p:spPr>
          <a:xfrm>
            <a:off x="4648200" y="3124200"/>
            <a:ext cx="2870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3400" b="1">
                <a:solidFill>
                  <a:srgbClr val="FFFFFF"/>
                </a:solidFill>
                <a:latin typeface="Syncopate"/>
              </a:rPr>
              <a:t>20 km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D98CA8BF-F9C0-AA46-A190-9A858D8B5A7E}"/>
              </a:ext>
            </a:extLst>
          </p:cNvPr>
          <p:cNvSpPr txBox="1"/>
          <p:nvPr/>
        </p:nvSpPr>
        <p:spPr>
          <a:xfrm>
            <a:off x="4724400" y="4191000"/>
            <a:ext cx="27178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400">
                <a:solidFill>
                  <a:srgbClr val="C9C9D2"/>
                </a:solidFill>
                <a:latin typeface="Figtree"/>
              </a:rPr>
              <a:t>od szczytu Everestu do dna Rowu Mariańskiego — tyle mierzyłyby nasze butelki z jednej doby, ustawione jedna na drugiej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3F3D3A53-E7EB-EB42-936D-0CE8A61601A1}"/>
              </a:ext>
            </a:extLst>
          </p:cNvPr>
          <p:cNvSpPr/>
          <p:nvPr/>
        </p:nvSpPr>
        <p:spPr>
          <a:xfrm>
            <a:off x="8077200" y="2489200"/>
            <a:ext cx="3276600" cy="3556000"/>
          </a:xfrm>
          <a:prstGeom prst="rect">
            <a:avLst/>
          </a:prstGeom>
          <a:solidFill>
            <a:srgbClr val="14141E"/>
          </a:solidFill>
          <a:ln w="12700" cap="flat" cmpd="sng" algn="ctr">
            <a:solidFill>
              <a:srgbClr val="2626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7FD787D5-6D75-6145-B4B9-AE197DE99BC7}"/>
              </a:ext>
            </a:extLst>
          </p:cNvPr>
          <p:cNvSpPr/>
          <p:nvPr/>
        </p:nvSpPr>
        <p:spPr>
          <a:xfrm>
            <a:off x="8356600" y="2819400"/>
            <a:ext cx="533400" cy="50800"/>
          </a:xfrm>
          <a:prstGeom prst="rect">
            <a:avLst/>
          </a:prstGeom>
          <a:solidFill>
            <a:srgbClr val="1313B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9576B3A5-DE73-4D42-B433-2138179B95C4}"/>
              </a:ext>
            </a:extLst>
          </p:cNvPr>
          <p:cNvSpPr txBox="1"/>
          <p:nvPr/>
        </p:nvSpPr>
        <p:spPr>
          <a:xfrm>
            <a:off x="8280400" y="3124200"/>
            <a:ext cx="2870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3400" b="1">
                <a:solidFill>
                  <a:srgbClr val="FFFFFF"/>
                </a:solidFill>
                <a:latin typeface="Syncopate"/>
              </a:rPr>
              <a:t>od 1997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4D08686C-5F08-F741-8E0F-20AB96A89CED}"/>
              </a:ext>
            </a:extLst>
          </p:cNvPr>
          <p:cNvSpPr txBox="1"/>
          <p:nvPr/>
        </p:nvSpPr>
        <p:spPr>
          <a:xfrm>
            <a:off x="8356600" y="4191000"/>
            <a:ext cx="27178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400">
                <a:solidFill>
                  <a:srgbClr val="C9C9D2"/>
                </a:solidFill>
                <a:latin typeface="Figtree"/>
              </a:rPr>
              <a:t>ponad ćwierć wieku doświadczenia w zdobieniu szkła</a:t>
            </a:r>
          </a:p>
        </p:txBody>
      </p:sp>
    </p:spTree>
    <p:extLst>
      <p:ext uri="{BB962C8B-B14F-4D97-AF65-F5344CB8AC3E}">
        <p14:creationId xmlns:p14="http://schemas.microsoft.com/office/powerpoint/2010/main" val="711684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487F459-A9ED-0244-A8A4-9980C89B941D}"/>
              </a:ext>
            </a:extLst>
          </p:cNvPr>
          <p:cNvSpPr txBox="1"/>
          <p:nvPr/>
        </p:nvSpPr>
        <p:spPr>
          <a:xfrm>
            <a:off x="9652000" y="457200"/>
            <a:ext cx="2032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5600" b="1">
                <a:solidFill>
                  <a:srgbClr val="1E1E38"/>
                </a:solidFill>
                <a:latin typeface="Syncopate"/>
              </a:rPr>
              <a:t>04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4197508-3C64-4948-AA3F-95B462A958A2}"/>
              </a:ext>
            </a:extLst>
          </p:cNvPr>
          <p:cNvSpPr txBox="1"/>
          <p:nvPr/>
        </p:nvSpPr>
        <p:spPr>
          <a:xfrm>
            <a:off x="812800" y="8128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400" b="1">
                <a:solidFill>
                  <a:srgbClr val="5B58E8"/>
                </a:solidFill>
                <a:latin typeface="Figtree"/>
              </a:rPr>
              <a:t>OFERTA / NASZE TECHNOLOGIE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FC70F16-D146-4B46-B7CC-B4318E056D51}"/>
              </a:ext>
            </a:extLst>
          </p:cNvPr>
          <p:cNvSpPr txBox="1"/>
          <p:nvPr/>
        </p:nvSpPr>
        <p:spPr>
          <a:xfrm>
            <a:off x="812800" y="1219200"/>
            <a:ext cx="863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3000" b="1">
                <a:solidFill>
                  <a:srgbClr val="FFFFFF"/>
                </a:solidFill>
                <a:latin typeface="Figtree"/>
              </a:rPr>
              <a:t>6 technologii zdobienia szkła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F1749494-910C-F243-9071-38D77071E471}"/>
              </a:ext>
            </a:extLst>
          </p:cNvPr>
          <p:cNvSpPr/>
          <p:nvPr/>
        </p:nvSpPr>
        <p:spPr>
          <a:xfrm>
            <a:off x="812800" y="2184400"/>
            <a:ext cx="3276600" cy="1905000"/>
          </a:xfrm>
          <a:prstGeom prst="rect">
            <a:avLst/>
          </a:prstGeom>
          <a:solidFill>
            <a:srgbClr val="14141E"/>
          </a:solidFill>
          <a:ln w="12700" cap="flat" cmpd="sng" algn="ctr">
            <a:solidFill>
              <a:srgbClr val="2626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6" name="Prostokąt 5">
            <a:extLst>
              <a:ext uri="{FF2B5EF4-FFF2-40B4-BE49-F238E27FC236}">
                <a16:creationId xmlns:a16="http://schemas.microsoft.com/office/drawing/2014/main" id="{986E1735-EB74-D241-A061-5F4C2B1F1AFD}"/>
              </a:ext>
            </a:extLst>
          </p:cNvPr>
          <p:cNvSpPr/>
          <p:nvPr/>
        </p:nvSpPr>
        <p:spPr>
          <a:xfrm>
            <a:off x="812800" y="2184400"/>
            <a:ext cx="50800" cy="1905000"/>
          </a:xfrm>
          <a:prstGeom prst="rect">
            <a:avLst/>
          </a:prstGeom>
          <a:solidFill>
            <a:srgbClr val="1313B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F344F9D-8F8E-D344-8583-614B2F080BE7}"/>
              </a:ext>
            </a:extLst>
          </p:cNvPr>
          <p:cNvSpPr txBox="1"/>
          <p:nvPr/>
        </p:nvSpPr>
        <p:spPr>
          <a:xfrm>
            <a:off x="1092200" y="2438400"/>
            <a:ext cx="101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2000" b="1">
                <a:solidFill>
                  <a:srgbClr val="5B58E8"/>
                </a:solidFill>
                <a:latin typeface="Syncopate"/>
              </a:rPr>
              <a:t>01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C4FD090-6106-9C4D-ABD2-7DED6B75B78F}"/>
              </a:ext>
            </a:extLst>
          </p:cNvPr>
          <p:cNvSpPr txBox="1"/>
          <p:nvPr/>
        </p:nvSpPr>
        <p:spPr>
          <a:xfrm>
            <a:off x="1092200" y="2971800"/>
            <a:ext cx="27686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500" b="1">
                <a:solidFill>
                  <a:srgbClr val="FFFFFF"/>
                </a:solidFill>
                <a:latin typeface="Figtree"/>
              </a:rPr>
              <a:t>Sitodruk emaliami mineralnymi i organicznymi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ED102970-5C38-134C-9931-527F93F4CF33}"/>
              </a:ext>
            </a:extLst>
          </p:cNvPr>
          <p:cNvSpPr/>
          <p:nvPr/>
        </p:nvSpPr>
        <p:spPr>
          <a:xfrm>
            <a:off x="4445000" y="2184400"/>
            <a:ext cx="3276600" cy="1905000"/>
          </a:xfrm>
          <a:prstGeom prst="rect">
            <a:avLst/>
          </a:prstGeom>
          <a:solidFill>
            <a:srgbClr val="14141E"/>
          </a:solidFill>
          <a:ln w="12700" cap="flat" cmpd="sng" algn="ctr">
            <a:solidFill>
              <a:srgbClr val="2626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F2975E6E-C499-DA4F-B0FE-D4BBFD31FF40}"/>
              </a:ext>
            </a:extLst>
          </p:cNvPr>
          <p:cNvSpPr/>
          <p:nvPr/>
        </p:nvSpPr>
        <p:spPr>
          <a:xfrm>
            <a:off x="4445000" y="2184400"/>
            <a:ext cx="50800" cy="1905000"/>
          </a:xfrm>
          <a:prstGeom prst="rect">
            <a:avLst/>
          </a:prstGeom>
          <a:solidFill>
            <a:srgbClr val="1313B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46F608F-9593-2348-9230-D84885B89FA9}"/>
              </a:ext>
            </a:extLst>
          </p:cNvPr>
          <p:cNvSpPr txBox="1"/>
          <p:nvPr/>
        </p:nvSpPr>
        <p:spPr>
          <a:xfrm>
            <a:off x="4724400" y="2438400"/>
            <a:ext cx="101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2000" b="1">
                <a:solidFill>
                  <a:srgbClr val="5B58E8"/>
                </a:solidFill>
                <a:latin typeface="Syncopate"/>
              </a:rPr>
              <a:t>02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1292194-D522-6B42-8A51-2209359D8199}"/>
              </a:ext>
            </a:extLst>
          </p:cNvPr>
          <p:cNvSpPr txBox="1"/>
          <p:nvPr/>
        </p:nvSpPr>
        <p:spPr>
          <a:xfrm>
            <a:off x="4724400" y="2971800"/>
            <a:ext cx="27686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500" b="1">
                <a:solidFill>
                  <a:srgbClr val="FFFFFF"/>
                </a:solidFill>
                <a:latin typeface="Figtree"/>
              </a:rPr>
              <a:t>Satynowanie i kolorowanie butelek</a:t>
            </a: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D7302095-D994-5A47-9296-13738DCDAAFE}"/>
              </a:ext>
            </a:extLst>
          </p:cNvPr>
          <p:cNvSpPr/>
          <p:nvPr/>
        </p:nvSpPr>
        <p:spPr>
          <a:xfrm>
            <a:off x="8077200" y="2184400"/>
            <a:ext cx="3276600" cy="1905000"/>
          </a:xfrm>
          <a:prstGeom prst="rect">
            <a:avLst/>
          </a:prstGeom>
          <a:solidFill>
            <a:srgbClr val="14141E"/>
          </a:solidFill>
          <a:ln w="12700" cap="flat" cmpd="sng" algn="ctr">
            <a:solidFill>
              <a:srgbClr val="2626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ECF3BAB8-FB4A-D643-9461-4849C36823F8}"/>
              </a:ext>
            </a:extLst>
          </p:cNvPr>
          <p:cNvSpPr/>
          <p:nvPr/>
        </p:nvSpPr>
        <p:spPr>
          <a:xfrm>
            <a:off x="8077200" y="2184400"/>
            <a:ext cx="50800" cy="1905000"/>
          </a:xfrm>
          <a:prstGeom prst="rect">
            <a:avLst/>
          </a:prstGeom>
          <a:solidFill>
            <a:srgbClr val="1313B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8BB185BA-6819-6A41-A249-DAF54FF89178}"/>
              </a:ext>
            </a:extLst>
          </p:cNvPr>
          <p:cNvSpPr txBox="1"/>
          <p:nvPr/>
        </p:nvSpPr>
        <p:spPr>
          <a:xfrm>
            <a:off x="8356600" y="2438400"/>
            <a:ext cx="101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2000" b="1">
                <a:solidFill>
                  <a:srgbClr val="5B58E8"/>
                </a:solidFill>
                <a:latin typeface="Syncopate"/>
              </a:rPr>
              <a:t>03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E2C7CF22-44D0-D94F-A5A6-0F9EC128ED9D}"/>
              </a:ext>
            </a:extLst>
          </p:cNvPr>
          <p:cNvSpPr txBox="1"/>
          <p:nvPr/>
        </p:nvSpPr>
        <p:spPr>
          <a:xfrm>
            <a:off x="8356600" y="2971800"/>
            <a:ext cx="27686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500" b="1">
                <a:solidFill>
                  <a:srgbClr val="FFFFFF"/>
                </a:solidFill>
                <a:latin typeface="Figtree"/>
              </a:rPr>
              <a:t>Sitodruk połączony z pokrywaniem powierzchni</a:t>
            </a:r>
          </a:p>
        </p:txBody>
      </p:sp>
      <p:sp>
        <p:nvSpPr>
          <p:cNvPr id="17" name="Prostokąt 16">
            <a:extLst>
              <a:ext uri="{FF2B5EF4-FFF2-40B4-BE49-F238E27FC236}">
                <a16:creationId xmlns:a16="http://schemas.microsoft.com/office/drawing/2014/main" id="{1D32A975-A423-8942-BBED-3EABF7EA03BE}"/>
              </a:ext>
            </a:extLst>
          </p:cNvPr>
          <p:cNvSpPr/>
          <p:nvPr/>
        </p:nvSpPr>
        <p:spPr>
          <a:xfrm>
            <a:off x="812800" y="4318000"/>
            <a:ext cx="3276600" cy="1905000"/>
          </a:xfrm>
          <a:prstGeom prst="rect">
            <a:avLst/>
          </a:prstGeom>
          <a:solidFill>
            <a:srgbClr val="14141E"/>
          </a:solidFill>
          <a:ln w="12700" cap="flat" cmpd="sng" algn="ctr">
            <a:solidFill>
              <a:srgbClr val="2626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1A009E38-541F-3541-8AE4-6314F2AB6149}"/>
              </a:ext>
            </a:extLst>
          </p:cNvPr>
          <p:cNvSpPr/>
          <p:nvPr/>
        </p:nvSpPr>
        <p:spPr>
          <a:xfrm>
            <a:off x="812800" y="4318000"/>
            <a:ext cx="50800" cy="1905000"/>
          </a:xfrm>
          <a:prstGeom prst="rect">
            <a:avLst/>
          </a:prstGeom>
          <a:solidFill>
            <a:srgbClr val="1313B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039D63B8-1CC9-8A42-9340-F80CD5EEBB7B}"/>
              </a:ext>
            </a:extLst>
          </p:cNvPr>
          <p:cNvSpPr txBox="1"/>
          <p:nvPr/>
        </p:nvSpPr>
        <p:spPr>
          <a:xfrm>
            <a:off x="1092200" y="4572000"/>
            <a:ext cx="101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2000" b="1">
                <a:solidFill>
                  <a:srgbClr val="5B58E8"/>
                </a:solidFill>
                <a:latin typeface="Syncopate"/>
              </a:rPr>
              <a:t>04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D72B09EB-A3BA-8A4F-A5B3-8360F3615A6B}"/>
              </a:ext>
            </a:extLst>
          </p:cNvPr>
          <p:cNvSpPr txBox="1"/>
          <p:nvPr/>
        </p:nvSpPr>
        <p:spPr>
          <a:xfrm>
            <a:off x="1092200" y="5105400"/>
            <a:ext cx="27686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500" b="1">
                <a:solidFill>
                  <a:srgbClr val="FFFFFF"/>
                </a:solidFill>
                <a:latin typeface="Figtree"/>
              </a:rPr>
              <a:t>Sitodruk UV na powierzchniach o różnych przekrojach</a:t>
            </a:r>
          </a:p>
        </p:txBody>
      </p:sp>
      <p:sp>
        <p:nvSpPr>
          <p:cNvPr id="21" name="Prostokąt 20">
            <a:extLst>
              <a:ext uri="{FF2B5EF4-FFF2-40B4-BE49-F238E27FC236}">
                <a16:creationId xmlns:a16="http://schemas.microsoft.com/office/drawing/2014/main" id="{24A4288B-71B6-FE43-8389-792024291B02}"/>
              </a:ext>
            </a:extLst>
          </p:cNvPr>
          <p:cNvSpPr/>
          <p:nvPr/>
        </p:nvSpPr>
        <p:spPr>
          <a:xfrm>
            <a:off x="4445000" y="4318000"/>
            <a:ext cx="3276600" cy="1905000"/>
          </a:xfrm>
          <a:prstGeom prst="rect">
            <a:avLst/>
          </a:prstGeom>
          <a:solidFill>
            <a:srgbClr val="14141E"/>
          </a:solidFill>
          <a:ln w="12700" cap="flat" cmpd="sng" algn="ctr">
            <a:solidFill>
              <a:srgbClr val="2626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2" name="Prostokąt 21">
            <a:extLst>
              <a:ext uri="{FF2B5EF4-FFF2-40B4-BE49-F238E27FC236}">
                <a16:creationId xmlns:a16="http://schemas.microsoft.com/office/drawing/2014/main" id="{1D61BF06-8361-E44F-9639-88C5C07F2A9F}"/>
              </a:ext>
            </a:extLst>
          </p:cNvPr>
          <p:cNvSpPr/>
          <p:nvPr/>
        </p:nvSpPr>
        <p:spPr>
          <a:xfrm>
            <a:off x="4445000" y="4318000"/>
            <a:ext cx="50800" cy="1905000"/>
          </a:xfrm>
          <a:prstGeom prst="rect">
            <a:avLst/>
          </a:prstGeom>
          <a:solidFill>
            <a:srgbClr val="1313B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6E73F058-F84A-2C42-BFC2-4888D0C7A9D6}"/>
              </a:ext>
            </a:extLst>
          </p:cNvPr>
          <p:cNvSpPr txBox="1"/>
          <p:nvPr/>
        </p:nvSpPr>
        <p:spPr>
          <a:xfrm>
            <a:off x="4724400" y="4572000"/>
            <a:ext cx="101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2000" b="1">
                <a:solidFill>
                  <a:srgbClr val="5B58E8"/>
                </a:solidFill>
                <a:latin typeface="Syncopate"/>
              </a:rPr>
              <a:t>05</a:t>
            </a: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BF889BFF-2C93-A848-8F8A-07FD20E76293}"/>
              </a:ext>
            </a:extLst>
          </p:cNvPr>
          <p:cNvSpPr txBox="1"/>
          <p:nvPr/>
        </p:nvSpPr>
        <p:spPr>
          <a:xfrm>
            <a:off x="4724400" y="5105400"/>
            <a:ext cx="27686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500" b="1">
                <a:solidFill>
                  <a:srgbClr val="FFFFFF"/>
                </a:solidFill>
                <a:latin typeface="Figtree"/>
              </a:rPr>
              <a:t>Pokrycia z metali szlachetnych</a:t>
            </a:r>
          </a:p>
        </p:txBody>
      </p:sp>
      <p:sp>
        <p:nvSpPr>
          <p:cNvPr id="25" name="Prostokąt 24">
            <a:extLst>
              <a:ext uri="{FF2B5EF4-FFF2-40B4-BE49-F238E27FC236}">
                <a16:creationId xmlns:a16="http://schemas.microsoft.com/office/drawing/2014/main" id="{6E087EF3-B7C5-CA43-BBDC-782E81833325}"/>
              </a:ext>
            </a:extLst>
          </p:cNvPr>
          <p:cNvSpPr/>
          <p:nvPr/>
        </p:nvSpPr>
        <p:spPr>
          <a:xfrm>
            <a:off x="8077200" y="4318000"/>
            <a:ext cx="3276600" cy="1905000"/>
          </a:xfrm>
          <a:prstGeom prst="rect">
            <a:avLst/>
          </a:prstGeom>
          <a:solidFill>
            <a:srgbClr val="14141E"/>
          </a:solidFill>
          <a:ln w="12700" cap="flat" cmpd="sng" algn="ctr">
            <a:solidFill>
              <a:srgbClr val="2626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6" name="Prostokąt 25">
            <a:extLst>
              <a:ext uri="{FF2B5EF4-FFF2-40B4-BE49-F238E27FC236}">
                <a16:creationId xmlns:a16="http://schemas.microsoft.com/office/drawing/2014/main" id="{7C57DEDF-A7B3-B547-B490-F387DB29DD41}"/>
              </a:ext>
            </a:extLst>
          </p:cNvPr>
          <p:cNvSpPr/>
          <p:nvPr/>
        </p:nvSpPr>
        <p:spPr>
          <a:xfrm>
            <a:off x="8077200" y="4318000"/>
            <a:ext cx="50800" cy="1905000"/>
          </a:xfrm>
          <a:prstGeom prst="rect">
            <a:avLst/>
          </a:prstGeom>
          <a:solidFill>
            <a:srgbClr val="1313B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07076F49-2274-9944-A07D-C76B2462C0FB}"/>
              </a:ext>
            </a:extLst>
          </p:cNvPr>
          <p:cNvSpPr txBox="1"/>
          <p:nvPr/>
        </p:nvSpPr>
        <p:spPr>
          <a:xfrm>
            <a:off x="8356600" y="4572000"/>
            <a:ext cx="101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2000" b="1">
                <a:solidFill>
                  <a:srgbClr val="5B58E8"/>
                </a:solidFill>
                <a:latin typeface="Syncopate"/>
              </a:rPr>
              <a:t>06</a:t>
            </a:r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74513318-442D-E84B-973B-F88F3548E3CB}"/>
              </a:ext>
            </a:extLst>
          </p:cNvPr>
          <p:cNvSpPr txBox="1"/>
          <p:nvPr/>
        </p:nvSpPr>
        <p:spPr>
          <a:xfrm>
            <a:off x="8356600" y="5105400"/>
            <a:ext cx="27686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500" b="1">
                <a:solidFill>
                  <a:srgbClr val="FFFFFF"/>
                </a:solidFill>
                <a:latin typeface="Figtree"/>
              </a:rPr>
              <a:t>Maskowanie selektywne pokryć</a:t>
            </a:r>
          </a:p>
        </p:txBody>
      </p:sp>
    </p:spTree>
    <p:extLst>
      <p:ext uri="{BB962C8B-B14F-4D97-AF65-F5344CB8AC3E}">
        <p14:creationId xmlns:p14="http://schemas.microsoft.com/office/powerpoint/2010/main" val="4188776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E08383E7-BFEB-644B-A51E-8A1935CC441F}"/>
              </a:ext>
            </a:extLst>
          </p:cNvPr>
          <p:cNvSpPr txBox="1"/>
          <p:nvPr/>
        </p:nvSpPr>
        <p:spPr>
          <a:xfrm>
            <a:off x="1524000" y="1524000"/>
            <a:ext cx="914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400" b="1">
                <a:solidFill>
                  <a:srgbClr val="5B58E8"/>
                </a:solidFill>
                <a:latin typeface="Figtree"/>
              </a:rPr>
              <a:t>POROZMAWIAJMY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434CB6E-A756-BB47-9CFE-8FC1D2B41BCE}"/>
              </a:ext>
            </a:extLst>
          </p:cNvPr>
          <p:cNvSpPr txBox="1"/>
          <p:nvPr/>
        </p:nvSpPr>
        <p:spPr>
          <a:xfrm>
            <a:off x="1524000" y="1981200"/>
            <a:ext cx="9144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3200" b="1">
                <a:solidFill>
                  <a:srgbClr val="FFFFFF"/>
                </a:solidFill>
                <a:latin typeface="Figtree"/>
              </a:rPr>
              <a:t>Zróbmy razem coś pięknego ze szkła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ED556C38-A29E-5D4E-8774-AB50010B3455}"/>
              </a:ext>
            </a:extLst>
          </p:cNvPr>
          <p:cNvSpPr/>
          <p:nvPr/>
        </p:nvSpPr>
        <p:spPr>
          <a:xfrm>
            <a:off x="5524500" y="3810000"/>
            <a:ext cx="1143000" cy="38100"/>
          </a:xfrm>
          <a:prstGeom prst="rect">
            <a:avLst/>
          </a:prstGeom>
          <a:solidFill>
            <a:srgbClr val="1313B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88C0304-6117-7F4E-957D-B4F7C4B1B4FE}"/>
              </a:ext>
            </a:extLst>
          </p:cNvPr>
          <p:cNvSpPr txBox="1"/>
          <p:nvPr/>
        </p:nvSpPr>
        <p:spPr>
          <a:xfrm>
            <a:off x="1143000" y="44450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400" b="1">
                <a:solidFill>
                  <a:srgbClr val="6E6BF0"/>
                </a:solidFill>
                <a:latin typeface="Figtree"/>
              </a:rPr>
              <a:t>ADRES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05AB52C3-1DD5-344C-AAC7-B48FC2C86958}"/>
              </a:ext>
            </a:extLst>
          </p:cNvPr>
          <p:cNvSpPr txBox="1"/>
          <p:nvPr/>
        </p:nvSpPr>
        <p:spPr>
          <a:xfrm>
            <a:off x="1143000" y="48260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600">
                <a:solidFill>
                  <a:srgbClr val="FFFFFF"/>
                </a:solidFill>
                <a:latin typeface="Figtree"/>
              </a:rPr>
              <a:t>ul. Zbożowa 10
37-500 Jarosław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6D520B9F-1D7D-0C47-9678-01E013323E71}"/>
              </a:ext>
            </a:extLst>
          </p:cNvPr>
          <p:cNvSpPr txBox="1"/>
          <p:nvPr/>
        </p:nvSpPr>
        <p:spPr>
          <a:xfrm>
            <a:off x="4445000" y="44450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400" b="1">
                <a:solidFill>
                  <a:srgbClr val="6E6BF0"/>
                </a:solidFill>
                <a:latin typeface="Figtree"/>
              </a:rPr>
              <a:t>E-MAIL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27A32E8-24FF-2748-8395-95A9C79C643A}"/>
              </a:ext>
            </a:extLst>
          </p:cNvPr>
          <p:cNvSpPr txBox="1"/>
          <p:nvPr/>
        </p:nvSpPr>
        <p:spPr>
          <a:xfrm>
            <a:off x="4445000" y="48260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600">
                <a:solidFill>
                  <a:srgbClr val="FFFFFF"/>
                </a:solidFill>
                <a:latin typeface="Figtree"/>
              </a:rPr>
              <a:t>maciej@glassivdeco.com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CF969E5-84E1-0540-AF59-B203DC931654}"/>
              </a:ext>
            </a:extLst>
          </p:cNvPr>
          <p:cNvSpPr txBox="1"/>
          <p:nvPr/>
        </p:nvSpPr>
        <p:spPr>
          <a:xfrm>
            <a:off x="7747000" y="44450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400" b="1">
                <a:solidFill>
                  <a:srgbClr val="6E6BF0"/>
                </a:solidFill>
                <a:latin typeface="Figtree"/>
              </a:rPr>
              <a:t>TELEFON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61D38A8-E7DE-0C44-B9EA-FD10CAB5BF6A}"/>
              </a:ext>
            </a:extLst>
          </p:cNvPr>
          <p:cNvSpPr txBox="1"/>
          <p:nvPr/>
        </p:nvSpPr>
        <p:spPr>
          <a:xfrm>
            <a:off x="7747000" y="48260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600">
                <a:solidFill>
                  <a:srgbClr val="FFFFFF"/>
                </a:solidFill>
                <a:latin typeface="Figtree"/>
              </a:rPr>
              <a:t>+48 660 788 125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4101304-A2C7-3F41-9ABA-4B6A9D8A8BC6}"/>
              </a:ext>
            </a:extLst>
          </p:cNvPr>
          <p:cNvSpPr txBox="1"/>
          <p:nvPr/>
        </p:nvSpPr>
        <p:spPr>
          <a:xfrm>
            <a:off x="1524000" y="6248400"/>
            <a:ext cx="914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l-PL" sz="1400">
                <a:solidFill>
                  <a:srgbClr val="7A7A88"/>
                </a:solidFill>
                <a:latin typeface="Figtree"/>
              </a:rPr>
              <a:t>Glassiv Deco  ·  2026</a:t>
            </a:r>
          </a:p>
        </p:txBody>
      </p:sp>
    </p:spTree>
    <p:extLst>
      <p:ext uri="{BB962C8B-B14F-4D97-AF65-F5344CB8AC3E}">
        <p14:creationId xmlns:p14="http://schemas.microsoft.com/office/powerpoint/2010/main" val="373875540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 [1784662720234]">
  <a:themeElements>
    <a:clrScheme name="Pakiet Office">
      <a:dk1>
        <a:srgbClr val="FFFFFF"/>
      </a:dk1>
      <a:lt1>
        <a:srgbClr val="0A0A0F"/>
      </a:lt1>
      <a:dk2>
        <a:srgbClr val="C9C9D2"/>
      </a:dk2>
      <a:lt2>
        <a:srgbClr val="14141E"/>
      </a:lt2>
      <a:accent1>
        <a:srgbClr val="1313BA"/>
      </a:accent1>
      <a:accent2>
        <a:srgbClr val="5B58E8"/>
      </a:accent2>
      <a:accent3>
        <a:srgbClr val="6E6BF0"/>
      </a:accent3>
      <a:accent4>
        <a:srgbClr val="8F8DF2"/>
      </a:accent4>
      <a:accent5>
        <a:srgbClr val="2A2A66"/>
      </a:accent5>
      <a:accent6>
        <a:srgbClr val="1313BA"/>
      </a:accent6>
      <a:hlink>
        <a:srgbClr val="467886"/>
      </a:hlink>
      <a:folHlink>
        <a:srgbClr val="96607D"/>
      </a:folHlink>
    </a:clrScheme>
    <a:fontScheme name="Pakiet Office">
      <a:majorFont>
        <a:latin typeface="Syncopate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igtree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0C56F6-48EE-404B-99CC-48A13A810CFC}">
  <we:reference id="wa200010725" version="1.0.0.1" store="pl-PL" storeType="OMEX"/>
  <we:alternateReferences>
    <we:reference id="WA200010725" version="1.0.0.1" store="WA200010725" storeType="OMEX"/>
  </we:alternateReferences>
  <we:properties>
    <we:property name="claude.fileId" value="&quot;9a063e99-7e12-41a4-b72d-83e558b45bf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1787</TotalTime>
  <Words>176</Words>
  <Application>Microsoft Macintosh PowerPoint</Application>
  <PresentationFormat>Panoramiczny</PresentationFormat>
  <Paragraphs>41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9" baseType="lpstr">
      <vt:lpstr>Arial</vt:lpstr>
      <vt:lpstr>Figtree</vt:lpstr>
      <vt:lpstr>Syncopate</vt:lpstr>
      <vt:lpstr>Motyw pakietu Office [1784662720234]</vt:lpstr>
      <vt:lpstr>TECHNOLOGIA SZKŁA ZDOBNICTWO SZKLANYCH OPAKOWAŃ NA POZIOMIE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Piotr Godzień</dc:creator>
  <cp:lastModifiedBy>Piotr Godzień</cp:lastModifiedBy>
  <cp:revision>2</cp:revision>
  <dcterms:created xsi:type="dcterms:W3CDTF">2026-07-21T19:11:00Z</dcterms:created>
  <dcterms:modified xsi:type="dcterms:W3CDTF">2026-07-23T20:48:55Z</dcterms:modified>
</cp:coreProperties>
</file>